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0" y="-457200"/>
            <a:ext cx="5029200" cy="7772400"/>
          </a:xfrm>
          <a:prstGeom prst="roundRect">
            <a:avLst/>
          </a:prstGeom>
          <a:solidFill>
            <a:srgbClr val="F8D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12480" y="457200"/>
            <a:ext cx="4114800" cy="5943600"/>
          </a:xfrm>
          <a:prstGeom prst="roundRect">
            <a:avLst/>
          </a:prstGeom>
          <a:solidFill>
            <a:srgbClr val="D8E9D9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Heart 4"/>
          <p:cNvSpPr/>
          <p:nvPr/>
        </p:nvSpPr>
        <p:spPr>
          <a:xfrm>
            <a:off x="9326880" y="1463040"/>
            <a:ext cx="2103120" cy="2103120"/>
          </a:xfrm>
          <a:prstGeom prst="heart">
            <a:avLst/>
          </a:prstGeom>
          <a:solidFill>
            <a:srgbClr val="F15B5A"/>
          </a:solidFill>
          <a:ln w="31750">
            <a:solidFill>
              <a:srgbClr val="9F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966960" y="2011680"/>
            <a:ext cx="822960" cy="1097280"/>
          </a:xfrm>
          <a:prstGeom prst="ellipse">
            <a:avLst/>
          </a:prstGeom>
          <a:solidFill>
            <a:srgbClr val="9F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ross 6"/>
          <p:cNvSpPr/>
          <p:nvPr/>
        </p:nvSpPr>
        <p:spPr>
          <a:xfrm>
            <a:off x="10149840" y="3657600"/>
            <a:ext cx="457200" cy="457200"/>
          </a:xfrm>
          <a:prstGeom prst="plus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778240" y="4297680"/>
            <a:ext cx="31089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/>
            <a:r>
              <a:rPr sz="1000" b="1">
                <a:solidFill>
                  <a:srgbClr val="9F263D"/>
                </a:solidFill>
                <a:latin typeface="Poppins"/>
              </a:rPr>
              <a:t>HEALTHCARE DATA MINING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03030"/>
                </a:solidFill>
                <a:latin typeface="Segoe UI"/>
              </a:rPr>
              <a:t>Yeh et al. (2008) Benchmark Cohort • 748 Donors • RFMTC Bernoulli Formulation • 83.3% Model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6320" y="630936"/>
            <a:ext cx="5303520" cy="384048"/>
          </a:xfrm>
          <a:prstGeom prst="roundRect">
            <a:avLst/>
          </a:prstGeom>
          <a:solidFill>
            <a:srgbClr val="D8E9D9"/>
          </a:solidFill>
          <a:ln w="1524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 dirty="0">
                <a:solidFill>
                  <a:srgbClr val="9F263D"/>
                </a:solidFill>
                <a:latin typeface="Poppins"/>
              </a:rPr>
              <a:t>  DWDM </a:t>
            </a:r>
            <a:r>
              <a:rPr lang="en-IN" sz="2000" b="1" dirty="0">
                <a:solidFill>
                  <a:srgbClr val="9F263D"/>
                </a:solidFill>
                <a:latin typeface="Poppins"/>
              </a:rPr>
              <a:t>Mini Project</a:t>
            </a:r>
            <a:endParaRPr sz="2000" b="1" dirty="0">
              <a:solidFill>
                <a:srgbClr val="9F263D"/>
              </a:solidFill>
              <a:latin typeface="Poppi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6858000" cy="18008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600" b="1" dirty="0">
                <a:solidFill>
                  <a:srgbClr val="9F263D"/>
                </a:solidFill>
                <a:latin typeface="Poppins"/>
              </a:rPr>
              <a:t>Blood Donation Prediction
&amp; Donor </a:t>
            </a:r>
            <a:r>
              <a:rPr sz="3600" b="1" dirty="0" err="1">
                <a:solidFill>
                  <a:srgbClr val="9F263D"/>
                </a:solidFill>
                <a:latin typeface="Poppins"/>
              </a:rPr>
              <a:t>Behaviour</a:t>
            </a:r>
            <a:r>
              <a:rPr sz="3600" b="1" dirty="0">
                <a:solidFill>
                  <a:srgbClr val="9F263D"/>
                </a:solidFill>
                <a:latin typeface="Poppins"/>
              </a:rPr>
              <a:t> Analysis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sz="1300" dirty="0">
                <a:solidFill>
                  <a:srgbClr val="303030"/>
                </a:solidFill>
                <a:latin typeface="Segoe UI"/>
              </a:rPr>
              <a:t>A Calibrated Machine Learning &amp; Recency-Frequency-Monetary (RFMTC) Framework for Understanding Participation Patterns on the UCI Benchmark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67665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bIns="182880" rtlCol="0" anchor="ctr"/>
          <a:lstStyle/>
          <a:p>
            <a:pPr algn="l"/>
            <a:r>
              <a:rPr sz="1400" b="1" dirty="0">
                <a:solidFill>
                  <a:srgbClr val="F15B5A"/>
                </a:solidFill>
                <a:latin typeface="Poppins"/>
              </a:rPr>
              <a:t>Student Presenter: </a:t>
            </a:r>
            <a:r>
              <a:rPr lang="en-IN" sz="1400" b="1" dirty="0">
                <a:solidFill>
                  <a:srgbClr val="303030"/>
                </a:solidFill>
                <a:latin typeface="Segoe UI"/>
              </a:rPr>
              <a:t>Anushka Vikas Gadhave / 25101A2007</a:t>
            </a:r>
            <a:endParaRPr sz="1400" dirty="0">
              <a:solidFill>
                <a:srgbClr val="303030"/>
              </a:solidFill>
              <a:latin typeface="Segoe UI"/>
            </a:endParaRPr>
          </a:p>
          <a:p>
            <a:pPr algn="l">
              <a:spcBef>
                <a:spcPts val="400"/>
              </a:spcBef>
            </a:pPr>
            <a:r>
              <a:rPr sz="1400" b="1" dirty="0">
                <a:solidFill>
                  <a:srgbClr val="F15B5A"/>
                </a:solidFill>
                <a:latin typeface="Poppins"/>
              </a:rPr>
              <a:t>Department &amp; Degree: </a:t>
            </a:r>
            <a:r>
              <a:rPr sz="1400" dirty="0">
                <a:solidFill>
                  <a:srgbClr val="303030"/>
                </a:solidFill>
                <a:latin typeface="Segoe UI"/>
              </a:rPr>
              <a:t>Department of </a:t>
            </a:r>
            <a:r>
              <a:rPr lang="en-IN" sz="1400" dirty="0">
                <a:solidFill>
                  <a:srgbClr val="303030"/>
                </a:solidFill>
                <a:latin typeface="Segoe UI"/>
              </a:rPr>
              <a:t>Information Technology</a:t>
            </a:r>
            <a:endParaRPr sz="1400" dirty="0">
              <a:solidFill>
                <a:srgbClr val="303030"/>
              </a:solidFill>
              <a:latin typeface="Segoe UI"/>
            </a:endParaRPr>
          </a:p>
          <a:p>
            <a:pPr algn="l">
              <a:spcBef>
                <a:spcPts val="400"/>
              </a:spcBef>
            </a:pPr>
            <a:r>
              <a:rPr sz="1400" b="1" dirty="0">
                <a:solidFill>
                  <a:srgbClr val="F15B5A"/>
                </a:solidFill>
                <a:latin typeface="Poppins"/>
              </a:rPr>
              <a:t>Faculty Guide: </a:t>
            </a:r>
            <a:r>
              <a:rPr lang="en-IN" sz="1400" b="1" dirty="0">
                <a:solidFill>
                  <a:srgbClr val="303030"/>
                </a:solidFill>
                <a:latin typeface="Segoe UI"/>
              </a:rPr>
              <a:t> </a:t>
            </a:r>
            <a:r>
              <a:rPr lang="en-IN" sz="1400" b="1" dirty="0" err="1">
                <a:solidFill>
                  <a:srgbClr val="303030"/>
                </a:solidFill>
                <a:latin typeface="Segoe UI"/>
              </a:rPr>
              <a:t>Dr.Varsha</a:t>
            </a:r>
            <a:r>
              <a:rPr lang="en-IN" sz="1400" b="1" dirty="0">
                <a:solidFill>
                  <a:srgbClr val="303030"/>
                </a:solidFill>
                <a:latin typeface="Segoe UI"/>
              </a:rPr>
              <a:t> Bhosale</a:t>
            </a:r>
            <a:endParaRPr sz="1400" dirty="0">
              <a:solidFill>
                <a:srgbClr val="303030"/>
              </a:solidFill>
              <a:latin typeface="Segoe UI"/>
            </a:endParaRPr>
          </a:p>
          <a:p>
            <a:pPr algn="l">
              <a:spcBef>
                <a:spcPts val="400"/>
              </a:spcBef>
            </a:pPr>
            <a:r>
              <a:rPr sz="1400" b="1" dirty="0">
                <a:solidFill>
                  <a:srgbClr val="F15B5A"/>
                </a:solidFill>
                <a:latin typeface="Poppins"/>
              </a:rPr>
              <a:t>Dataset Source: </a:t>
            </a:r>
            <a:r>
              <a:rPr sz="1400" dirty="0">
                <a:solidFill>
                  <a:srgbClr val="303030"/>
                </a:solidFill>
                <a:latin typeface="Segoe UI"/>
              </a:rPr>
              <a:t>UCI Machine Learning Repository (Blood Transfusion Service Center, ID: 176)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47472"/>
          </a:xfrm>
          <a:prstGeom prst="roundRect">
            <a:avLst/>
          </a:prstGeom>
          <a:solidFill>
            <a:srgbClr val="F8D9D8"/>
          </a:solidFill>
          <a:ln w="1270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9F263D"/>
                </a:solidFill>
                <a:latin typeface="Poppins"/>
              </a:rPr>
              <a:t>[  BACKGROUND &amp; MOTIVATION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300" b="1">
                <a:solidFill>
                  <a:srgbClr val="9F263D"/>
                </a:solidFill>
                <a:latin typeface="Poppins"/>
              </a:rPr>
              <a:t>The High-Stakes Volatility of Blood Supply Management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1150">
                <a:solidFill>
                  <a:srgbClr val="303030"/>
                </a:solidFill>
                <a:latin typeface="Segoe UI"/>
              </a:rPr>
              <a:t>Why maintaining a reliable, calibrated donor pool is an essential data science challenge.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F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/>
            <a:r>
              <a:rPr sz="1100" b="1">
                <a:solidFill>
                  <a:srgbClr val="9F263D"/>
                </a:solidFill>
                <a:latin typeface="Poppins"/>
              </a:rPr>
              <a:t>01  •  PERISHABLE INVENTORY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303030"/>
                </a:solidFill>
                <a:latin typeface="Poppins"/>
              </a:rPr>
              <a:t>Critical Shelf-Life Windows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000">
                <a:solidFill>
                  <a:srgbClr val="303030"/>
                </a:solidFill>
                <a:latin typeface="Segoe UI"/>
              </a:rPr>
              <a:t>• Whole blood expires in strictly 35 to 42 days; platelets perish in just 5 days.
• Donated units cannot be hoarded indefinitely, requiring a steady, predictable inflow rather than feast-or-famine collection spikes.
• Over-collection leads to tragic discard wastage; shortages directly compromise emergency transfusions.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/>
            <a:r>
              <a:rPr sz="1100" b="1">
                <a:solidFill>
                  <a:srgbClr val="F15B5A"/>
                </a:solidFill>
                <a:latin typeface="Poppins"/>
              </a:rPr>
              <a:t>02  •  DONOR ATTRITION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303030"/>
                </a:solidFill>
                <a:latin typeface="Poppins"/>
              </a:rPr>
              <a:t>Only 23.8% Return Rate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000">
                <a:solidFill>
                  <a:srgbClr val="303030"/>
                </a:solidFill>
                <a:latin typeface="Segoe UI"/>
              </a:rPr>
              <a:t>• In the verified 748-donor cohort, only 178 individuals (23.8%) returned to donate in March 2007, while 570 (76.2%) lapsed.
• First-time donors rarely transition spontaneously into habitual donors without strategic engagement.
• Donor acquisition costs 5x more operational effort than retaining existing responsive donors.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38328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/>
            <a:r>
              <a:rPr sz="1100" b="1">
                <a:solidFill>
                  <a:srgbClr val="9F263D"/>
                </a:solidFill>
                <a:latin typeface="Poppins"/>
              </a:rPr>
              <a:t>03  •  OUTREACH FATIGUE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303030"/>
                </a:solidFill>
                <a:latin typeface="Poppins"/>
              </a:rPr>
              <a:t>Uncalibrated Blind Blasts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000">
                <a:solidFill>
                  <a:srgbClr val="303030"/>
                </a:solidFill>
                <a:latin typeface="Segoe UI"/>
              </a:rPr>
              <a:t>• Mobile collection centers rely on unsegmented phone/SMS blast spam, inducing donor fatigue and unsubscribes.
• Traditional methods lack quantitative awareness of Recency decay (months since last donation).
• Outreach coordinators lack empirical scoring tools to prioritize mobile drive call lists.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10698480" cy="1188720"/>
          </a:xfrm>
          <a:prstGeom prst="roundRect">
            <a:avLst/>
          </a:prstGeom>
          <a:solidFill>
            <a:srgbClr val="D8E9D9"/>
          </a:solidFill>
          <a:ln w="1905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/>
            <a:r>
              <a:rPr sz="1050" b="1">
                <a:solidFill>
                  <a:srgbClr val="9F263D"/>
                </a:solidFill>
                <a:latin typeface="Poppins"/>
              </a:rPr>
              <a:t>REAL-WORLD HEALTHCARE NEED  vs.  SPECIFIC MACHINE LEARNING FORMULATION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1000">
                <a:solidFill>
                  <a:srgbClr val="303030"/>
                </a:solidFill>
                <a:latin typeface="Segoe UI"/>
              </a:rPr>
              <a:t>While regional health systems manage acute blood shortages, this project solves a specific, mathematically grounded binary classification task: Predicting whether an individual donor from a 748-person historical cohort will donate during a mobile collection campaign, using four validated Recency-Frequency-Monetary-Time (RFMT) variables.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47472"/>
          </a:xfrm>
          <a:prstGeom prst="roundRect">
            <a:avLst/>
          </a:prstGeom>
          <a:solidFill>
            <a:srgbClr val="F8D9D8"/>
          </a:solidFill>
          <a:ln w="1270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9F263D"/>
                </a:solidFill>
                <a:latin typeface="Poppins"/>
              </a:rPr>
              <a:t>[  CORE MILESTONES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300" b="1">
                <a:solidFill>
                  <a:srgbClr val="9F263D"/>
                </a:solidFill>
                <a:latin typeface="Poppins"/>
              </a:rPr>
              <a:t>Project Objectives &amp; Scope of Work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1150">
                <a:solidFill>
                  <a:srgbClr val="303030"/>
                </a:solidFill>
                <a:latin typeface="Segoe UI"/>
              </a:rPr>
              <a:t>Four focused, technically verifiable pillars guiding our machine learning research.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5780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/>
            <a:r>
              <a:rPr sz="950" b="1">
                <a:solidFill>
                  <a:srgbClr val="F15B5A"/>
                </a:solidFill>
                <a:latin typeface="Poppins"/>
              </a:rPr>
              <a:t>[  OBJECTIVE 01  ]</a:t>
            </a:r>
          </a:p>
          <a:p>
            <a:pPr>
              <a:spcBef>
                <a:spcPts val="400"/>
              </a:spcBef>
            </a:pPr>
            <a:r>
              <a:rPr sz="1350" b="1">
                <a:solidFill>
                  <a:srgbClr val="303030"/>
                </a:solidFill>
                <a:latin typeface="Poppins"/>
              </a:rPr>
              <a:t>Calibrated Return Classification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950">
                <a:solidFill>
                  <a:srgbClr val="303030"/>
                </a:solidFill>
                <a:latin typeface="Segoe UI"/>
              </a:rPr>
              <a:t>Train and benchmark 4 binary classification algorithms (Logistic Regression, Decision Trees, Random Forest, SVM) under severe 76.2% : 23.8% class imbalance.
Prioritize Balanced Accuracy, Recall (83.3%), and F1-score (0.5882) rather than misleading raw accuracy.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37360"/>
            <a:ext cx="525780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F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/>
            <a:r>
              <a:rPr sz="950" b="1">
                <a:solidFill>
                  <a:srgbClr val="9F263D"/>
                </a:solidFill>
                <a:latin typeface="Poppins"/>
              </a:rPr>
              <a:t>[  OBJECTIVE 02  ]</a:t>
            </a:r>
          </a:p>
          <a:p>
            <a:pPr>
              <a:spcBef>
                <a:spcPts val="400"/>
              </a:spcBef>
            </a:pPr>
            <a:r>
              <a:rPr sz="1350" b="1">
                <a:solidFill>
                  <a:srgbClr val="303030"/>
                </a:solidFill>
                <a:latin typeface="Poppins"/>
              </a:rPr>
              <a:t>Empirical RFMTC Behaviour Analysis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950">
                <a:solidFill>
                  <a:srgbClr val="303030"/>
                </a:solidFill>
                <a:latin typeface="Segoe UI"/>
              </a:rPr>
              <a:t>Formulate and audit donor behaviour across Recency (R), Frequency (F), Monetary (M), and Time (T) dimensions.
Quantify positive skewness, establish the exact collinearity invariant (M = 250 x F), and analyze bivariate correlations with target propensity.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5780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F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/>
            <a:r>
              <a:rPr sz="950" b="1">
                <a:solidFill>
                  <a:srgbClr val="9F263D"/>
                </a:solidFill>
                <a:latin typeface="Poppins"/>
              </a:rPr>
              <a:t>[  OBJECTIVE 03  ]</a:t>
            </a:r>
          </a:p>
          <a:p>
            <a:pPr>
              <a:spcBef>
                <a:spcPts val="400"/>
              </a:spcBef>
            </a:pPr>
            <a:r>
              <a:rPr sz="1350" b="1">
                <a:solidFill>
                  <a:srgbClr val="303030"/>
                </a:solidFill>
                <a:latin typeface="Poppins"/>
              </a:rPr>
              <a:t>Unsupervised Persona Clustering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950">
                <a:solidFill>
                  <a:srgbClr val="303030"/>
                </a:solidFill>
                <a:latin typeface="Segoe UI"/>
              </a:rPr>
              <a:t>Apply K-Means (K=4) and Hierarchical Agglomerative clustering (Ward, Complete, Average, Single linkages) to segment donors.
Validate cluster cohesion using Silhouette analysis and Davies-Bouldin index to discover discrete behavioral cohorts.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023360"/>
            <a:ext cx="525780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/>
            <a:r>
              <a:rPr sz="950" b="1">
                <a:solidFill>
                  <a:srgbClr val="F15B5A"/>
                </a:solidFill>
                <a:latin typeface="Poppins"/>
              </a:rPr>
              <a:t>[  OBJECTIVE 04  ]</a:t>
            </a:r>
          </a:p>
          <a:p>
            <a:pPr>
              <a:spcBef>
                <a:spcPts val="400"/>
              </a:spcBef>
            </a:pPr>
            <a:r>
              <a:rPr sz="1350" b="1">
                <a:solidFill>
                  <a:srgbClr val="303030"/>
                </a:solidFill>
                <a:latin typeface="Poppins"/>
              </a:rPr>
              <a:t>Clinical Web Platform &amp; DWDM Labs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950">
                <a:solidFill>
                  <a:srgbClr val="303030"/>
                </a:solidFill>
                <a:latin typeface="Segoe UI"/>
              </a:rPr>
              <a:t>Develop a full-stack decision-support suite (FastAPI backend + React 19 frontend) featuring live probability scoring, confidence tiers, and outreach guidance.
Integrate all 9 DWDM Academic Labs (Star Schema, OLAP Cubes, Association Rules, Regression).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47472"/>
          </a:xfrm>
          <a:prstGeom prst="roundRect">
            <a:avLst/>
          </a:prstGeom>
          <a:solidFill>
            <a:srgbClr val="F8D9D8"/>
          </a:solidFill>
          <a:ln w="1270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9F263D"/>
                </a:solidFill>
                <a:latin typeface="Poppins"/>
              </a:rPr>
              <a:t>[  SYSTEM PARADIGM SHIFT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300" b="1">
                <a:solidFill>
                  <a:srgbClr val="9F263D"/>
                </a:solidFill>
                <a:latin typeface="Poppins"/>
              </a:rPr>
              <a:t>From Intuitive Guesswork to Calibrated RFMT Intelligence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1150">
                <a:solidFill>
                  <a:srgbClr val="303030"/>
                </a:solidFill>
                <a:latin typeface="Segoe UI"/>
              </a:rPr>
              <a:t>Comparing conventional blood bank outreach workflows with our data-driven decision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8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56032" rIns="256032" bIns="256032" rtlCol="0" anchor="ctr"/>
          <a:lstStyle/>
          <a:p>
            <a:pPr algn="ctr"/>
            <a:r>
              <a:rPr sz="1100" b="1">
                <a:solidFill>
                  <a:srgbClr val="F15B5A"/>
                </a:solidFill>
                <a:latin typeface="Poppins"/>
              </a:rPr>
              <a:t>TRADITIONAL BLOOD BANK WORKFLOW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303030"/>
                </a:solidFill>
                <a:latin typeface="Poppins"/>
              </a:rPr>
              <a:t>Static, Reactive &amp; Disconnected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950" b="1">
                <a:solidFill>
                  <a:srgbClr val="F15B5A"/>
                </a:solidFill>
                <a:latin typeface="Poppins"/>
              </a:rPr>
              <a:t>•  Unsegmented Mass Blasts: </a:t>
            </a:r>
            <a:r>
              <a:rPr sz="900">
                <a:solidFill>
                  <a:srgbClr val="303030"/>
                </a:solidFill>
                <a:latin typeface="Segoe UI"/>
              </a:rPr>
              <a:t>Broadcasts indiscriminate phone calls or SMS to entire historical lists without considering dormancy.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950" b="1">
                <a:solidFill>
                  <a:srgbClr val="F15B5A"/>
                </a:solidFill>
                <a:latin typeface="Poppins"/>
              </a:rPr>
              <a:t>•  The 76% Accuracy Trap: </a:t>
            </a:r>
            <a:r>
              <a:rPr sz="900">
                <a:solidFill>
                  <a:srgbClr val="303030"/>
                </a:solidFill>
                <a:latin typeface="Segoe UI"/>
              </a:rPr>
              <a:t>Simple evaluation metrics look artificially high (76.2% accuracy by simply guessing 'No'), failing to identify a single donor.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950" b="1">
                <a:solidFill>
                  <a:srgbClr val="F15B5A"/>
                </a:solidFill>
                <a:latin typeface="Poppins"/>
              </a:rPr>
              <a:t>•  Overlooked Recency Decay: </a:t>
            </a:r>
            <a:r>
              <a:rPr sz="900">
                <a:solidFill>
                  <a:srgbClr val="303030"/>
                </a:solidFill>
                <a:latin typeface="Segoe UI"/>
              </a:rPr>
              <a:t>Fails to model the reality that donor response drops sharply after 12-18 months of dormancy.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950" b="1">
                <a:solidFill>
                  <a:srgbClr val="F15B5A"/>
                </a:solidFill>
                <a:latin typeface="Poppins"/>
              </a:rPr>
              <a:t>•  Isolated Data Silos: </a:t>
            </a:r>
            <a:r>
              <a:rPr sz="900">
                <a:solidFill>
                  <a:srgbClr val="303030"/>
                </a:solidFill>
                <a:latin typeface="Segoe UI"/>
              </a:rPr>
              <a:t>Past donation registers sit in static paper records or flat spreadsheets without multidimensional OLAP slicing.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56032" rIns="256032" bIns="256032" rtlCol="0" anchor="ctr"/>
          <a:lstStyle/>
          <a:p>
            <a:pPr algn="ctr"/>
            <a:r>
              <a:rPr sz="1100" b="1">
                <a:solidFill>
                  <a:srgbClr val="9F263D"/>
                </a:solidFill>
                <a:latin typeface="Poppins"/>
              </a:rPr>
              <a:t>PROPOSED ML &amp; ANALYTICS PLATFORM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303030"/>
                </a:solidFill>
                <a:latin typeface="Poppins"/>
              </a:rPr>
              <a:t>Proactive, Calibrated &amp; Explainable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950" b="1">
                <a:solidFill>
                  <a:srgbClr val="9F263D"/>
                </a:solidFill>
                <a:latin typeface="Poppins"/>
              </a:rPr>
              <a:t>•  Calibrated Return Probabilities: </a:t>
            </a:r>
            <a:r>
              <a:rPr sz="900">
                <a:solidFill>
                  <a:srgbClr val="303030"/>
                </a:solidFill>
                <a:latin typeface="Segoe UI"/>
              </a:rPr>
              <a:t>Estimates genuine individual donation propensities (0–100%) mapped to tiered CRM outreach categories.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950" b="1">
                <a:solidFill>
                  <a:srgbClr val="9F263D"/>
                </a:solidFill>
                <a:latin typeface="Poppins"/>
              </a:rPr>
              <a:t>•  Balanced Class Weighting: </a:t>
            </a:r>
            <a:r>
              <a:rPr sz="900">
                <a:solidFill>
                  <a:srgbClr val="303030"/>
                </a:solidFill>
                <a:latin typeface="Segoe UI"/>
              </a:rPr>
              <a:t>Penalizes minority class misclassifications, achieving 83.3% test recall on actual donors.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950" b="1">
                <a:solidFill>
                  <a:srgbClr val="9F263D"/>
                </a:solidFill>
                <a:latin typeface="Poppins"/>
              </a:rPr>
              <a:t>•  RFMTC Empirical Framework: </a:t>
            </a:r>
            <a:r>
              <a:rPr sz="900">
                <a:solidFill>
                  <a:srgbClr val="303030"/>
                </a:solidFill>
                <a:latin typeface="Segoe UI"/>
              </a:rPr>
              <a:t>Integrates Recency, Frequency, Monetary volume, and Donor Tenure to capture donor loyalty curves.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950" b="1">
                <a:solidFill>
                  <a:srgbClr val="9F263D"/>
                </a:solidFill>
                <a:latin typeface="Poppins"/>
              </a:rPr>
              <a:t>•  Full DWDM Analytical Suite: </a:t>
            </a:r>
            <a:r>
              <a:rPr sz="900">
                <a:solidFill>
                  <a:srgbClr val="303030"/>
                </a:solidFill>
                <a:latin typeface="Segoe UI"/>
              </a:rPr>
              <a:t>Interactive React UI with live inference, K-Means segmentation, Star Schema cubes, and association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698480" cy="822960"/>
          </a:xfrm>
          <a:prstGeom prst="roundRect">
            <a:avLst/>
          </a:prstGeom>
          <a:solidFill>
            <a:srgbClr val="F8D9D8"/>
          </a:solidFill>
          <a:ln w="1905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000" b="1">
                <a:solidFill>
                  <a:srgbClr val="9F263D"/>
                </a:solidFill>
                <a:latin typeface="Poppins"/>
              </a:rPr>
              <a:t>OPERATIONAL IMPACT: Maximizes blood drive turnout by focusing mobilization resources on high-propensity donors while preserving donor goodwill through respectful, segmented communication.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47472"/>
          </a:xfrm>
          <a:prstGeom prst="roundRect">
            <a:avLst/>
          </a:prstGeom>
          <a:solidFill>
            <a:srgbClr val="F8D9D8"/>
          </a:solidFill>
          <a:ln w="1270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9F263D"/>
                </a:solidFill>
                <a:latin typeface="Poppins"/>
              </a:rPr>
              <a:t>[  DATA PROVENANCE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300" b="1">
                <a:solidFill>
                  <a:srgbClr val="9F263D"/>
                </a:solidFill>
                <a:latin typeface="Poppins"/>
              </a:rPr>
              <a:t>Understanding the UCI Benchmark Dataset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1150">
                <a:solidFill>
                  <a:srgbClr val="303030"/>
                </a:solidFill>
                <a:latin typeface="Segoe UI"/>
              </a:rPr>
              <a:t>Exclusively grounded in the 748-donor cohort documented by Yeh, Yang, and Ting (2008).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9319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/>
            <a:r>
              <a:rPr sz="1050" b="1">
                <a:solidFill>
                  <a:srgbClr val="9F263D"/>
                </a:solidFill>
                <a:latin typeface="Poppins"/>
              </a:rPr>
              <a:t>DATASET SPECIFICATIONS</a:t>
            </a:r>
          </a:p>
          <a:p>
            <a:pPr>
              <a:spcBef>
                <a:spcPts val="800"/>
              </a:spcBef>
            </a:pPr>
            <a:r>
              <a:rPr sz="919" b="1">
                <a:solidFill>
                  <a:srgbClr val="F15B5A"/>
                </a:solidFill>
                <a:latin typeface="Segoe UI"/>
              </a:rPr>
              <a:t>• Repository: </a:t>
            </a:r>
            <a:r>
              <a:rPr sz="919">
                <a:solidFill>
                  <a:srgbClr val="303030"/>
                </a:solidFill>
                <a:latin typeface="Segoe UI"/>
              </a:rPr>
              <a:t>UCI Machine Learning Repository (ID: 176)
</a:t>
            </a:r>
            <a:r>
              <a:rPr sz="919" b="1">
                <a:solidFill>
                  <a:srgbClr val="F15B5A"/>
                </a:solidFill>
                <a:latin typeface="Segoe UI"/>
              </a:rPr>
              <a:t>• Primary Citation: </a:t>
            </a:r>
            <a:r>
              <a:rPr sz="919">
                <a:solidFill>
                  <a:srgbClr val="303030"/>
                </a:solidFill>
                <a:latin typeface="Segoe UI"/>
              </a:rPr>
              <a:t>Yeh et al. (2008), Expert Syst. Appl., 36(4).
</a:t>
            </a:r>
            <a:r>
              <a:rPr sz="919" b="1">
                <a:solidFill>
                  <a:srgbClr val="F15B5A"/>
                </a:solidFill>
                <a:latin typeface="Segoe UI"/>
              </a:rPr>
              <a:t>• Cohort Size: </a:t>
            </a:r>
            <a:r>
              <a:rPr sz="919">
                <a:solidFill>
                  <a:srgbClr val="303030"/>
                </a:solidFill>
                <a:latin typeface="Segoe UI"/>
              </a:rPr>
              <a:t>748 Total Donor Records
</a:t>
            </a:r>
            <a:r>
              <a:rPr sz="919" b="1">
                <a:solidFill>
                  <a:srgbClr val="F15B5A"/>
                </a:solidFill>
                <a:latin typeface="Segoe UI"/>
              </a:rPr>
              <a:t>• Missing Values: </a:t>
            </a:r>
            <a:r>
              <a:rPr sz="919">
                <a:solidFill>
                  <a:srgbClr val="303030"/>
                </a:solidFill>
                <a:latin typeface="Segoe UI"/>
              </a:rPr>
              <a:t>Zero (0 nulls across all records)
</a:t>
            </a:r>
            <a:r>
              <a:rPr sz="919" b="1">
                <a:solidFill>
                  <a:srgbClr val="F15B5A"/>
                </a:solidFill>
                <a:latin typeface="Segoe UI"/>
              </a:rPr>
              <a:t>• Collinearity Invariant: </a:t>
            </a:r>
            <a:r>
              <a:rPr sz="919">
                <a:solidFill>
                  <a:srgbClr val="303030"/>
                </a:solidFill>
                <a:latin typeface="Segoe UI"/>
              </a:rPr>
              <a:t>M = 250 x F (Exact r = 1.000: 250 c.c./unit)
</a:t>
            </a:r>
            <a:r>
              <a:rPr sz="919" b="1">
                <a:solidFill>
                  <a:srgbClr val="F15B5A"/>
                </a:solidFill>
                <a:latin typeface="Segoe UI"/>
              </a:rPr>
              <a:t>• Target Task: </a:t>
            </a:r>
            <a:r>
              <a:rPr sz="919">
                <a:solidFill>
                  <a:srgbClr val="303030"/>
                </a:solidFill>
                <a:latin typeface="Segoe UI"/>
              </a:rPr>
              <a:t>March 2007 collection return (1 = Donated, 0 = Did not)</a:t>
            </a:r>
          </a:p>
          <a:p>
            <a:pPr>
              <a:spcBef>
                <a:spcPts val="1200"/>
              </a:spcBef>
            </a:pPr>
            <a:r>
              <a:rPr sz="900" b="1">
                <a:solidFill>
                  <a:srgbClr val="9F263D"/>
                </a:solidFill>
                <a:latin typeface="Poppins"/>
              </a:rPr>
              <a:t>ETHICAL DATASET BOUNDARY:
</a:t>
            </a:r>
            <a:r>
              <a:rPr sz="850">
                <a:solidFill>
                  <a:srgbClr val="303030"/>
                </a:solidFill>
                <a:latin typeface="Segoe UI"/>
              </a:rPr>
              <a:t>The UCI dataset does NOT provide donor names, contact numbers, blood groups (ABO/Rh), or geographic locations. Models strictly utilize verified RFMT numerical features.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691640"/>
            <a:ext cx="2926080" cy="1051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050" b="1">
                <a:solidFill>
                  <a:srgbClr val="303030"/>
                </a:solidFill>
                <a:latin typeface="Poppins"/>
              </a:rPr>
              <a:t>R — Recency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787878"/>
                </a:solidFill>
                <a:latin typeface="Segoe UI"/>
              </a:rPr>
              <a:t>Months since last donation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9F263D"/>
                </a:solidFill>
                <a:latin typeface="Segoe UI"/>
              </a:rPr>
              <a:t>Min: 0  •  Median: 7  •  Max: 74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2834640"/>
            <a:ext cx="2926080" cy="1051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9F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050" b="1">
                <a:solidFill>
                  <a:srgbClr val="303030"/>
                </a:solidFill>
                <a:latin typeface="Poppins"/>
              </a:rPr>
              <a:t>F — Frequency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787878"/>
                </a:solidFill>
                <a:latin typeface="Segoe UI"/>
              </a:rPr>
              <a:t>Total number of previous donations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9F263D"/>
                </a:solidFill>
                <a:latin typeface="Segoe UI"/>
              </a:rPr>
              <a:t>Min: 1  •  Median: 4  •  Max: 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3977639"/>
            <a:ext cx="2926080" cy="1051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D8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050" b="1">
                <a:solidFill>
                  <a:srgbClr val="303030"/>
                </a:solidFill>
                <a:latin typeface="Poppins"/>
              </a:rPr>
              <a:t>M — Monetary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787878"/>
                </a:solidFill>
                <a:latin typeface="Segoe UI"/>
              </a:rPr>
              <a:t>Total blood volume donated (c.c.)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9F263D"/>
                </a:solidFill>
                <a:latin typeface="Segoe UI"/>
              </a:rPr>
              <a:t>Min: 250  •  Median: 1,000  •  Max: 12,500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5120640"/>
            <a:ext cx="2926080" cy="1051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8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050" b="1">
                <a:solidFill>
                  <a:srgbClr val="303030"/>
                </a:solidFill>
                <a:latin typeface="Poppins"/>
              </a:rPr>
              <a:t>T — Time (Tenure)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787878"/>
                </a:solidFill>
                <a:latin typeface="Segoe UI"/>
              </a:rPr>
              <a:t>Months since first donation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9F263D"/>
                </a:solidFill>
                <a:latin typeface="Segoe UI"/>
              </a:rPr>
              <a:t>Min: 2  •  Median: 28  •  Max: 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91640"/>
            <a:ext cx="34747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hart_class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783080"/>
            <a:ext cx="3200400" cy="3200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92440" y="50292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9F263D"/>
                </a:solidFill>
                <a:latin typeface="Poppins"/>
              </a:rPr>
              <a:t>IMBALANCE IMPACT SUMMARY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303030"/>
                </a:solidFill>
                <a:latin typeface="Segoe UI"/>
              </a:rPr>
              <a:t>Class 1 (Returned): 178 donors (23.8%)
Class 0 (Did Not Return): 570 donors (76.2%)
Imbalance Ratio: 3.20 : 1 Majority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47472"/>
          </a:xfrm>
          <a:prstGeom prst="roundRect">
            <a:avLst/>
          </a:prstGeom>
          <a:solidFill>
            <a:srgbClr val="F8D9D8"/>
          </a:solidFill>
          <a:ln w="1270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9F263D"/>
                </a:solidFill>
                <a:latin typeface="Poppins"/>
              </a:rPr>
              <a:t>[  EXPLORATORY DATA ANALYSIS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300" b="1">
                <a:solidFill>
                  <a:srgbClr val="9F263D"/>
                </a:solidFill>
                <a:latin typeface="Poppins"/>
              </a:rPr>
              <a:t>Empirical Distributions, Invariants &amp; Preprocessing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1150">
                <a:solidFill>
                  <a:srgbClr val="303030"/>
                </a:solidFill>
                <a:latin typeface="Segoe UI"/>
              </a:rPr>
              <a:t>Auditing the mathematical properties of the UCI Transfusion data before model ingestion.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0292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/>
            <a:r>
              <a:rPr sz="1100" b="1">
                <a:solidFill>
                  <a:srgbClr val="9F263D"/>
                </a:solidFill>
                <a:latin typeface="Poppins"/>
              </a:rPr>
              <a:t>KEY EDA OBSERVATIONS &amp; PREPROCESSING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950" b="1">
                <a:solidFill>
                  <a:srgbClr val="F15B5A"/>
                </a:solidFill>
                <a:latin typeface="Poppins"/>
              </a:rPr>
              <a:t>•  Heavy Right-Skewed Distributions
</a:t>
            </a:r>
            <a:r>
              <a:rPr sz="900">
                <a:solidFill>
                  <a:srgbClr val="303030"/>
                </a:solidFill>
                <a:latin typeface="Segoe UI"/>
              </a:rPr>
              <a:t>Recency (median 7m vs mean 9.5m), Frequency (median 4 vs mean 5.5), and Monetary volume exhibit sharp long-tail Pareto decay. A minority of veteran donors donate upwards of 50 times.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950" b="1">
                <a:solidFill>
                  <a:srgbClr val="F15B5A"/>
                </a:solidFill>
                <a:latin typeface="Poppins"/>
              </a:rPr>
              <a:t>•  Strict Multicollinearity Invariant
</a:t>
            </a:r>
            <a:r>
              <a:rPr sz="900">
                <a:solidFill>
                  <a:srgbClr val="303030"/>
                </a:solidFill>
                <a:latin typeface="Segoe UI"/>
              </a:rPr>
              <a:t>Monetary volume is precisely 250 times Frequency (r = 1.000). Linear regression requires L2 regularization to prevent matrix singularity; tree algorithms handle it natively.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950" b="1">
                <a:solidFill>
                  <a:srgbClr val="F15B5A"/>
                </a:solidFill>
                <a:latin typeface="Poppins"/>
              </a:rPr>
              <a:t>•  Stratified 80/20 Train/Test Partitioning
</a:t>
            </a:r>
            <a:r>
              <a:rPr sz="900">
                <a:solidFill>
                  <a:srgbClr val="303030"/>
                </a:solidFill>
                <a:latin typeface="Segoe UI"/>
              </a:rPr>
              <a:t>598 training samples (142 positive / 456 negative) and 150 holdout test samples (36 positive / 114 negative), locked with random_state=42 to guarantee exact scientific reproducibility.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950" b="1">
                <a:solidFill>
                  <a:srgbClr val="F15B5A"/>
                </a:solidFill>
                <a:latin typeface="Poppins"/>
              </a:rPr>
              <a:t>•  Zero Data Leakage Standardization
</a:t>
            </a:r>
            <a:r>
              <a:rPr sz="900">
                <a:solidFill>
                  <a:srgbClr val="303030"/>
                </a:solidFill>
                <a:latin typeface="Segoe UI"/>
              </a:rPr>
              <a:t>StandardScaler (mean=0, std=1) parameters are computed strictly on the training fold and applied to the test set, preventing optimistic bias in distance-sensitive algorithms (SVM, LogReg, KMeans).</a:t>
            </a:r>
          </a:p>
        </p:txBody>
      </p:sp>
      <p:pic>
        <p:nvPicPr>
          <p:cNvPr id="6" name="Picture 5" descr="chart_rfmt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91640"/>
            <a:ext cx="5486400" cy="2148840"/>
          </a:xfrm>
          <a:prstGeom prst="rect">
            <a:avLst/>
          </a:prstGeom>
        </p:spPr>
      </p:pic>
      <p:pic>
        <p:nvPicPr>
          <p:cNvPr id="7" name="Picture 6" descr="chart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977639"/>
            <a:ext cx="54864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47472"/>
          </a:xfrm>
          <a:prstGeom prst="roundRect">
            <a:avLst/>
          </a:prstGeom>
          <a:solidFill>
            <a:srgbClr val="F8D9D8"/>
          </a:solidFill>
          <a:ln w="1270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9F263D"/>
                </a:solidFill>
                <a:latin typeface="Poppins"/>
              </a:rPr>
              <a:t>[  SYSTEM METHODOLOGY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300" b="1">
                <a:solidFill>
                  <a:srgbClr val="9F263D"/>
                </a:solidFill>
                <a:latin typeface="Poppins"/>
              </a:rPr>
              <a:t>End-to-End Machine Learning Pipeline Architecture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1150">
                <a:solidFill>
                  <a:srgbClr val="303030"/>
                </a:solidFill>
                <a:latin typeface="Segoe UI"/>
              </a:rPr>
              <a:t>Methodological sequence from raw UCI benchmark ingestion to calibrated web prediction.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64592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/>
            <a:r>
              <a:rPr sz="950" b="1">
                <a:solidFill>
                  <a:srgbClr val="F15B5A"/>
                </a:solidFill>
                <a:latin typeface="Poppins"/>
              </a:rPr>
              <a:t>STEP 01</a:t>
            </a:r>
          </a:p>
          <a:p>
            <a:pPr algn="ctr">
              <a:spcBef>
                <a:spcPts val="600"/>
              </a:spcBef>
            </a:pPr>
            <a:r>
              <a:rPr sz="1100" b="1">
                <a:solidFill>
                  <a:srgbClr val="303030"/>
                </a:solidFill>
                <a:latin typeface="Poppins"/>
              </a:rPr>
              <a:t>Raw Ingestion</a:t>
            </a:r>
          </a:p>
          <a:p>
            <a:pPr algn="ctr">
              <a:lnSpc>
                <a:spcPct val="115000"/>
              </a:lnSpc>
              <a:spcBef>
                <a:spcPts val="1000"/>
              </a:spcBef>
            </a:pPr>
            <a:r>
              <a:rPr sz="850">
                <a:solidFill>
                  <a:srgbClr val="303030"/>
                </a:solidFill>
                <a:latin typeface="Segoe UI"/>
              </a:rPr>
              <a:t>UCI 748 Records
Transfusion.data
Zero null audit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95728" y="3108960"/>
            <a:ext cx="146304" cy="274320"/>
          </a:xfrm>
          <a:prstGeom prst="rightArrow">
            <a:avLst/>
          </a:prstGeom>
          <a:solidFill>
            <a:srgbClr val="F15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60320" y="1828800"/>
            <a:ext cx="164592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F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/>
            <a:r>
              <a:rPr sz="950" b="1">
                <a:solidFill>
                  <a:srgbClr val="9F263D"/>
                </a:solidFill>
                <a:latin typeface="Poppins"/>
              </a:rPr>
              <a:t>STEP 02</a:t>
            </a:r>
          </a:p>
          <a:p>
            <a:pPr algn="ctr">
              <a:spcBef>
                <a:spcPts val="600"/>
              </a:spcBef>
            </a:pPr>
            <a:r>
              <a:rPr sz="1100" b="1">
                <a:solidFill>
                  <a:srgbClr val="303030"/>
                </a:solidFill>
                <a:latin typeface="Poppins"/>
              </a:rPr>
              <a:t>Feature Prep</a:t>
            </a:r>
          </a:p>
          <a:p>
            <a:pPr algn="ctr">
              <a:lnSpc>
                <a:spcPct val="115000"/>
              </a:lnSpc>
              <a:spcBef>
                <a:spcPts val="1000"/>
              </a:spcBef>
            </a:pPr>
            <a:r>
              <a:rPr sz="850">
                <a:solidFill>
                  <a:srgbClr val="303030"/>
                </a:solidFill>
                <a:latin typeface="Segoe UI"/>
              </a:rPr>
              <a:t>RFMT Extraction
Collinearity audit
M = 250 x F check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24528" y="3108960"/>
            <a:ext cx="146304" cy="274320"/>
          </a:xfrm>
          <a:prstGeom prst="rightArrow">
            <a:avLst/>
          </a:prstGeom>
          <a:solidFill>
            <a:srgbClr val="F15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164592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/>
            <a:r>
              <a:rPr sz="950" b="1">
                <a:solidFill>
                  <a:srgbClr val="F15B5A"/>
                </a:solidFill>
                <a:latin typeface="Poppins"/>
              </a:rPr>
              <a:t>STEP 03</a:t>
            </a:r>
          </a:p>
          <a:p>
            <a:pPr algn="ctr">
              <a:spcBef>
                <a:spcPts val="600"/>
              </a:spcBef>
            </a:pPr>
            <a:r>
              <a:rPr sz="1100" b="1">
                <a:solidFill>
                  <a:srgbClr val="303030"/>
                </a:solidFill>
                <a:latin typeface="Poppins"/>
              </a:rPr>
              <a:t>Stratified Split</a:t>
            </a:r>
          </a:p>
          <a:p>
            <a:pPr algn="ctr">
              <a:lnSpc>
                <a:spcPct val="115000"/>
              </a:lnSpc>
              <a:spcBef>
                <a:spcPts val="1000"/>
              </a:spcBef>
            </a:pPr>
            <a:r>
              <a:rPr sz="850">
                <a:solidFill>
                  <a:srgbClr val="303030"/>
                </a:solidFill>
                <a:latin typeface="Segoe UI"/>
              </a:rPr>
              <a:t>80% Train (N=598)
20% Test (N=150)
Preserves 23.8% pos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53328" y="3108960"/>
            <a:ext cx="146304" cy="274320"/>
          </a:xfrm>
          <a:prstGeom prst="rightArrow">
            <a:avLst/>
          </a:prstGeom>
          <a:solidFill>
            <a:srgbClr val="F15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164592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F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/>
            <a:r>
              <a:rPr sz="950" b="1">
                <a:solidFill>
                  <a:srgbClr val="9F263D"/>
                </a:solidFill>
                <a:latin typeface="Poppins"/>
              </a:rPr>
              <a:t>STEP 04</a:t>
            </a:r>
          </a:p>
          <a:p>
            <a:pPr algn="ctr">
              <a:spcBef>
                <a:spcPts val="600"/>
              </a:spcBef>
            </a:pPr>
            <a:r>
              <a:rPr sz="1100" b="1">
                <a:solidFill>
                  <a:srgbClr val="303030"/>
                </a:solidFill>
                <a:latin typeface="Poppins"/>
              </a:rPr>
              <a:t>Model Training</a:t>
            </a:r>
          </a:p>
          <a:p>
            <a:pPr algn="ctr">
              <a:lnSpc>
                <a:spcPct val="115000"/>
              </a:lnSpc>
              <a:spcBef>
                <a:spcPts val="1000"/>
              </a:spcBef>
            </a:pPr>
            <a:r>
              <a:rPr sz="850">
                <a:solidFill>
                  <a:srgbClr val="303030"/>
                </a:solidFill>
                <a:latin typeface="Segoe UI"/>
              </a:rPr>
              <a:t>Balanced weighting
LogReg, RF, SVM
Custom CART trees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82128" y="3108960"/>
            <a:ext cx="146304" cy="274320"/>
          </a:xfrm>
          <a:prstGeom prst="rightArrow">
            <a:avLst/>
          </a:prstGeom>
          <a:solidFill>
            <a:srgbClr val="F15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164592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/>
            <a:r>
              <a:rPr sz="950" b="1">
                <a:solidFill>
                  <a:srgbClr val="F15B5A"/>
                </a:solidFill>
                <a:latin typeface="Poppins"/>
              </a:rPr>
              <a:t>STEP 05</a:t>
            </a:r>
          </a:p>
          <a:p>
            <a:pPr algn="ctr">
              <a:spcBef>
                <a:spcPts val="600"/>
              </a:spcBef>
            </a:pPr>
            <a:r>
              <a:rPr sz="1100" b="1">
                <a:solidFill>
                  <a:srgbClr val="303030"/>
                </a:solidFill>
                <a:latin typeface="Poppins"/>
              </a:rPr>
              <a:t>Evaluation</a:t>
            </a:r>
          </a:p>
          <a:p>
            <a:pPr algn="ctr">
              <a:lnSpc>
                <a:spcPct val="115000"/>
              </a:lnSpc>
              <a:spcBef>
                <a:spcPts val="1000"/>
              </a:spcBef>
            </a:pPr>
            <a:r>
              <a:rPr sz="850">
                <a:solidFill>
                  <a:srgbClr val="303030"/>
                </a:solidFill>
                <a:latin typeface="Segoe UI"/>
              </a:rPr>
              <a:t>F1 Optimization
ROC-AUC &amp; Recall
Confusion matrix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710928" y="3108960"/>
            <a:ext cx="146304" cy="274320"/>
          </a:xfrm>
          <a:prstGeom prst="rightArrow">
            <a:avLst/>
          </a:prstGeom>
          <a:solidFill>
            <a:srgbClr val="F15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875520" y="1828800"/>
            <a:ext cx="164592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F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/>
            <a:r>
              <a:rPr sz="950" b="1">
                <a:solidFill>
                  <a:srgbClr val="9F263D"/>
                </a:solidFill>
                <a:latin typeface="Poppins"/>
              </a:rPr>
              <a:t>STEP 06</a:t>
            </a:r>
          </a:p>
          <a:p>
            <a:pPr algn="ctr">
              <a:spcBef>
                <a:spcPts val="600"/>
              </a:spcBef>
            </a:pPr>
            <a:r>
              <a:rPr sz="1100" b="1">
                <a:solidFill>
                  <a:srgbClr val="303030"/>
                </a:solidFill>
                <a:latin typeface="Poppins"/>
              </a:rPr>
              <a:t>Web Delivery</a:t>
            </a:r>
          </a:p>
          <a:p>
            <a:pPr algn="ctr">
              <a:lnSpc>
                <a:spcPct val="115000"/>
              </a:lnSpc>
              <a:spcBef>
                <a:spcPts val="1000"/>
              </a:spcBef>
            </a:pPr>
            <a:r>
              <a:rPr sz="850">
                <a:solidFill>
                  <a:srgbClr val="303030"/>
                </a:solidFill>
                <a:latin typeface="Segoe UI"/>
              </a:rPr>
              <a:t>FastAPI endpoint
React 19 interface
CRM action advice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10698480" cy="1280160"/>
          </a:xfrm>
          <a:prstGeom prst="roundRect">
            <a:avLst/>
          </a:prstGeom>
          <a:solidFill>
            <a:srgbClr val="D8E9D9"/>
          </a:solidFill>
          <a:ln w="19050">
            <a:solidFill>
              <a:srgbClr val="9F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/>
            <a:r>
              <a:rPr sz="1000" b="1">
                <a:solidFill>
                  <a:srgbClr val="9F263D"/>
                </a:solidFill>
                <a:latin typeface="Poppins"/>
              </a:rPr>
              <a:t>PIPELINE INTEGRITY &amp; RESILIENCE GUARANTEES: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950">
                <a:solidFill>
                  <a:srgbClr val="303030"/>
                </a:solidFill>
                <a:latin typeface="Segoe UI"/>
              </a:rPr>
              <a:t>1. Model Persistence: Serialized pipeline artifacts (scaler.joblib, best_model.joblib, model_comparison.json) enable fast sub-5ms REST inference.
2. Fallback Architecture: Pure NumPy implementations of Decision Trees and K-Means execute deterministically even under restrictive Windows Application Control policies without crashing the API.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47472"/>
          </a:xfrm>
          <a:prstGeom prst="roundRect">
            <a:avLst/>
          </a:prstGeom>
          <a:solidFill>
            <a:srgbClr val="F8D9D8"/>
          </a:solidFill>
          <a:ln w="1270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9F263D"/>
                </a:solidFill>
                <a:latin typeface="Poppins"/>
              </a:rPr>
              <a:t>[  ANALYTICAL MODELS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300" b="1">
                <a:solidFill>
                  <a:srgbClr val="9F263D"/>
                </a:solidFill>
                <a:latin typeface="Poppins"/>
              </a:rPr>
              <a:t>Machine Learning &amp; Data Mining Algorithms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1150">
                <a:solidFill>
                  <a:srgbClr val="303030"/>
                </a:solidFill>
                <a:latin typeface="Segoe UI"/>
              </a:rPr>
              <a:t>Theoretical justification, purpose, and implementation status for each algorithm.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5780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/>
            <a:r>
              <a:rPr sz="850" b="1">
                <a:solidFill>
                  <a:srgbClr val="F15B5A"/>
                </a:solidFill>
                <a:latin typeface="Poppins"/>
              </a:rPr>
              <a:t>[  SUPERVISED CLASSIFICATION  ]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303030"/>
                </a:solidFill>
                <a:latin typeface="Poppins"/>
              </a:rPr>
              <a:t>Logistic Regression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850" b="1">
                <a:solidFill>
                  <a:srgbClr val="9F263D"/>
                </a:solidFill>
                <a:latin typeface="Segoe UI"/>
              </a:rPr>
              <a:t>Linear log-odds estimator with L2 Ridge regularization and balanced class weighting.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850">
                <a:solidFill>
                  <a:srgbClr val="303030"/>
                </a:solidFill>
                <a:latin typeface="Segoe UI"/>
              </a:rPr>
              <a:t>Why Used: Establishes a transparent baseline; achieves the highest F1-Score (0.5882) and 83.3% test recall.
Implementation: Scikit-learn (LogisticRegression, C=1.0, class_weight='balanced').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91640"/>
            <a:ext cx="525780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F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/>
            <a:r>
              <a:rPr sz="850" b="1">
                <a:solidFill>
                  <a:srgbClr val="9F263D"/>
                </a:solidFill>
                <a:latin typeface="Poppins"/>
              </a:rPr>
              <a:t>[  ENSEMBLE SUPERVISED  ]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303030"/>
                </a:solidFill>
                <a:latin typeface="Poppins"/>
              </a:rPr>
              <a:t>Random Forest Classifier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850" b="1">
                <a:solidFill>
                  <a:srgbClr val="9F263D"/>
                </a:solidFill>
                <a:latin typeface="Segoe UI"/>
              </a:rPr>
              <a:t>Bagging ensemble combining 100 bootstrap decision trees with random feature subspacing.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850">
                <a:solidFill>
                  <a:srgbClr val="303030"/>
                </a:solidFill>
                <a:latin typeface="Segoe UI"/>
              </a:rPr>
              <a:t>Why Used: Resistant to overfitting; handles non-linear boundaries between Recency and Tenure.
Implementation: Dual implementation (Scikit-Learn &amp; Custom NumPy Bagging Ensemble).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25780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/>
            <a:r>
              <a:rPr sz="850" b="1">
                <a:solidFill>
                  <a:srgbClr val="F15B5A"/>
                </a:solidFill>
                <a:latin typeface="Poppins"/>
              </a:rPr>
              <a:t>[  KERNEL SUPERVISED  ]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303030"/>
                </a:solidFill>
                <a:latin typeface="Poppins"/>
              </a:rPr>
              <a:t>Support Vector Machine (SVM)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850" b="1">
                <a:solidFill>
                  <a:srgbClr val="9F263D"/>
                </a:solidFill>
                <a:latin typeface="Segoe UI"/>
              </a:rPr>
              <a:t>Maximum-margin hyperplane classifier using Radial Basis Function (RBF) kernel mapping.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850">
                <a:solidFill>
                  <a:srgbClr val="303030"/>
                </a:solidFill>
                <a:latin typeface="Segoe UI"/>
              </a:rPr>
              <a:t>Why Used: Yields the highest ROC-AUC (0.7941); captures complex non-linear donor clusters in Hilbert space.
Implementation: Scikit-learn (SVC, kernel='rbf', probability=True, balanced).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77639"/>
            <a:ext cx="525780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F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/>
            <a:r>
              <a:rPr sz="850" b="1">
                <a:solidFill>
                  <a:srgbClr val="9F263D"/>
                </a:solidFill>
                <a:latin typeface="Poppins"/>
              </a:rPr>
              <a:t>[  UNSUPERVISED CLUSTERING  ]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303030"/>
                </a:solidFill>
                <a:latin typeface="Poppins"/>
              </a:rPr>
              <a:t>K-Means &amp; Hierarchical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850" b="1">
                <a:solidFill>
                  <a:srgbClr val="9F263D"/>
                </a:solidFill>
                <a:latin typeface="Segoe UI"/>
              </a:rPr>
              <a:t>Lloyd's algorithm with K-Means++ (K=4) + Agglomerative Clustering (Ward/Complete linkages).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850">
                <a:solidFill>
                  <a:srgbClr val="303030"/>
                </a:solidFill>
                <a:latin typeface="Segoe UI"/>
              </a:rPr>
              <a:t>Why Used: Discovers 4 discrete behavioral archetypes (Active Core, Lapsed Veterans, Occasional, Elite).
Implementation: CustomKMeans + SciPy hierarchy linkage and dendrograms.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47472"/>
          </a:xfrm>
          <a:prstGeom prst="roundRect">
            <a:avLst/>
          </a:prstGeom>
          <a:solidFill>
            <a:srgbClr val="F8D9D8"/>
          </a:solidFill>
          <a:ln w="1270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9F263D"/>
                </a:solidFill>
                <a:latin typeface="Poppins"/>
              </a:rPr>
              <a:t>[  TECHNICAL ECOSYSTEM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300" b="1">
                <a:solidFill>
                  <a:srgbClr val="9F263D"/>
                </a:solidFill>
                <a:latin typeface="Poppins"/>
              </a:rPr>
              <a:t>Verified Technology Stack &amp; Toolchain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1150">
                <a:solidFill>
                  <a:srgbClr val="303030"/>
                </a:solidFill>
                <a:latin typeface="Segoe UI"/>
              </a:rPr>
              <a:t>Modern full-stack technologies and data science libraries powering the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7472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/>
            <a:r>
              <a:rPr sz="850" b="1">
                <a:solidFill>
                  <a:srgbClr val="F15B5A"/>
                </a:solidFill>
                <a:latin typeface="Poppins"/>
              </a:rPr>
              <a:t>PRESENTATION LAYER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303030"/>
                </a:solidFill>
                <a:latin typeface="Poppins"/>
              </a:rPr>
              <a:t>Frontend &amp; UI Design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sz="950" b="1">
                <a:solidFill>
                  <a:srgbClr val="F15B5A"/>
                </a:solidFill>
                <a:latin typeface="Poppins"/>
              </a:rPr>
              <a:t>• React 19 &amp; TypeScript
</a:t>
            </a:r>
            <a:r>
              <a:rPr sz="850">
                <a:solidFill>
                  <a:srgbClr val="303030"/>
                </a:solidFill>
                <a:latin typeface="Segoe UI"/>
              </a:rPr>
              <a:t>Component-driven SPA architecture with strict compile-time type safety.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sz="950" b="1">
                <a:solidFill>
                  <a:srgbClr val="F15B5A"/>
                </a:solidFill>
                <a:latin typeface="Poppins"/>
              </a:rPr>
              <a:t>• Vite 8
</a:t>
            </a:r>
            <a:r>
              <a:rPr sz="850">
                <a:solidFill>
                  <a:srgbClr val="303030"/>
                </a:solidFill>
                <a:latin typeface="Segoe UI"/>
              </a:rPr>
              <a:t>High-speed modern frontend bundler and local development server.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sz="950" b="1">
                <a:solidFill>
                  <a:srgbClr val="F15B5A"/>
                </a:solidFill>
                <a:latin typeface="Poppins"/>
              </a:rPr>
              <a:t>• Tailwind CSS v4
</a:t>
            </a:r>
            <a:r>
              <a:rPr sz="850">
                <a:solidFill>
                  <a:srgbClr val="303030"/>
                </a:solidFill>
                <a:latin typeface="Segoe UI"/>
              </a:rPr>
              <a:t>Modern responsive utility styling with custom healthcare editorial tokens.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sz="950" b="1">
                <a:solidFill>
                  <a:srgbClr val="F15B5A"/>
                </a:solidFill>
                <a:latin typeface="Poppins"/>
              </a:rPr>
              <a:t>• Recharts &amp; Lucide React
</a:t>
            </a:r>
            <a:r>
              <a:rPr sz="850">
                <a:solidFill>
                  <a:srgbClr val="303030"/>
                </a:solidFill>
                <a:latin typeface="Segoe UI"/>
              </a:rPr>
              <a:t>Interactive SVG metric visualizations, donut charts, and semantic medical icons.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91640"/>
            <a:ext cx="347472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F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/>
            <a:r>
              <a:rPr sz="850" b="1">
                <a:solidFill>
                  <a:srgbClr val="9F263D"/>
                </a:solidFill>
                <a:latin typeface="Poppins"/>
              </a:rPr>
              <a:t>APPLICATION SERVICES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303030"/>
                </a:solidFill>
                <a:latin typeface="Poppins"/>
              </a:rPr>
              <a:t>FastAPI &amp; REST Gateway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sz="950" b="1">
                <a:solidFill>
                  <a:srgbClr val="F15B5A"/>
                </a:solidFill>
                <a:latin typeface="Poppins"/>
              </a:rPr>
              <a:t>• FastAPI 0.110
</a:t>
            </a:r>
            <a:r>
              <a:rPr sz="850">
                <a:solidFill>
                  <a:srgbClr val="303030"/>
                </a:solidFill>
                <a:latin typeface="Segoe UI"/>
              </a:rPr>
              <a:t>Asynchronous, high-performance web framework with auto Swagger / OpenAPI docs.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sz="950" b="1">
                <a:solidFill>
                  <a:srgbClr val="F15B5A"/>
                </a:solidFill>
                <a:latin typeface="Poppins"/>
              </a:rPr>
              <a:t>• Pydantic v2
</a:t>
            </a:r>
            <a:r>
              <a:rPr sz="850">
                <a:solidFill>
                  <a:srgbClr val="303030"/>
                </a:solidFill>
                <a:latin typeface="Segoe UI"/>
              </a:rPr>
              <a:t>Strict schema validation and data serialization for prediction inputs.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sz="950" b="1">
                <a:solidFill>
                  <a:srgbClr val="F15B5A"/>
                </a:solidFill>
                <a:latin typeface="Poppins"/>
              </a:rPr>
              <a:t>• Uvicorn ASGI
</a:t>
            </a:r>
            <a:r>
              <a:rPr sz="850">
                <a:solidFill>
                  <a:srgbClr val="303030"/>
                </a:solidFill>
                <a:latin typeface="Segoe UI"/>
              </a:rPr>
              <a:t>Production ASGI server handling non-blocking concurrent API requests.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sz="950" b="1">
                <a:solidFill>
                  <a:srgbClr val="F15B5A"/>
                </a:solidFill>
                <a:latin typeface="Poppins"/>
              </a:rPr>
              <a:t>• CORS Middleware
</a:t>
            </a:r>
            <a:r>
              <a:rPr sz="850">
                <a:solidFill>
                  <a:srgbClr val="303030"/>
                </a:solidFill>
                <a:latin typeface="Segoe UI"/>
              </a:rPr>
              <a:t>Cross-origin resource sharing configured for seamless frontend-backend communication.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91640"/>
            <a:ext cx="347472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/>
            <a:r>
              <a:rPr sz="850" b="1">
                <a:solidFill>
                  <a:srgbClr val="D8E9D9"/>
                </a:solidFill>
                <a:latin typeface="Poppins"/>
              </a:rPr>
              <a:t>ANALYTICS &amp; ML ENGINE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303030"/>
                </a:solidFill>
                <a:latin typeface="Poppins"/>
              </a:rPr>
              <a:t>Data Mining &amp; Modeling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sz="950" b="1">
                <a:solidFill>
                  <a:srgbClr val="F15B5A"/>
                </a:solidFill>
                <a:latin typeface="Poppins"/>
              </a:rPr>
              <a:t>• Scikit-Learn 1.9
</a:t>
            </a:r>
            <a:r>
              <a:rPr sz="850">
                <a:solidFill>
                  <a:srgbClr val="303030"/>
                </a:solidFill>
                <a:latin typeface="Segoe UI"/>
              </a:rPr>
              <a:t>Standardized supervised classification, scaling, and evaluation metrics.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sz="950" b="1">
                <a:solidFill>
                  <a:srgbClr val="F15B5A"/>
                </a:solidFill>
                <a:latin typeface="Poppins"/>
              </a:rPr>
              <a:t>• Pure NumPy Engine
</a:t>
            </a:r>
            <a:r>
              <a:rPr sz="850">
                <a:solidFill>
                  <a:srgbClr val="303030"/>
                </a:solidFill>
                <a:latin typeface="Segoe UI"/>
              </a:rPr>
              <a:t>Resilient mathematical fallbacks (Custom CART &amp; Custom KMeans) immune to AppLocker.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sz="950" b="1">
                <a:solidFill>
                  <a:srgbClr val="F15B5A"/>
                </a:solidFill>
                <a:latin typeface="Poppins"/>
              </a:rPr>
              <a:t>• Pandas &amp; NumPy
</a:t>
            </a:r>
            <a:r>
              <a:rPr sz="850">
                <a:solidFill>
                  <a:srgbClr val="303030"/>
                </a:solidFill>
                <a:latin typeface="Segoe UI"/>
              </a:rPr>
              <a:t>High-efficiency tabular data transformation, invariant validation, and descriptive stats.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sz="950" b="1">
                <a:solidFill>
                  <a:srgbClr val="F15B5A"/>
                </a:solidFill>
                <a:latin typeface="Poppins"/>
              </a:rPr>
              <a:t>• SciPy &amp; Mlxtend
</a:t>
            </a:r>
            <a:r>
              <a:rPr sz="850">
                <a:solidFill>
                  <a:srgbClr val="303030"/>
                </a:solidFill>
                <a:latin typeface="Segoe UI"/>
              </a:rPr>
              <a:t>Hierarchical clustering linkages, dendrograms, and Apriori association rule mining.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47472"/>
          </a:xfrm>
          <a:prstGeom prst="roundRect">
            <a:avLst/>
          </a:prstGeom>
          <a:solidFill>
            <a:srgbClr val="F8D9D8"/>
          </a:solidFill>
          <a:ln w="1270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9F263D"/>
                </a:solidFill>
                <a:latin typeface="Poppins"/>
              </a:rPr>
              <a:t>[  SOFTWARE ENGINEERING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300" b="1">
                <a:solidFill>
                  <a:srgbClr val="9F263D"/>
                </a:solidFill>
                <a:latin typeface="Poppins"/>
              </a:rPr>
              <a:t>Full-Stack System Architecture &amp; Data Flow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1150">
                <a:solidFill>
                  <a:srgbClr val="303030"/>
                </a:solidFill>
                <a:latin typeface="Segoe UI"/>
              </a:rPr>
              <a:t>Modular decoupled relationship between the client, REST gateway, analytics services, and models.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8686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/>
            <a:r>
              <a:rPr sz="1100" b="1">
                <a:solidFill>
                  <a:srgbClr val="9F263D"/>
                </a:solidFill>
                <a:latin typeface="Poppins"/>
              </a:rPr>
              <a:t>Layer 1: Client Browser (React 19 SPA)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03030"/>
                </a:solidFill>
                <a:latin typeface="Segoe UI"/>
              </a:rPr>
              <a:t>Interactive UI Components: DashboardView • DonorPredictionView • ModelComparisonView • LabsSuiteView (Labs 1-9) • Recharts Visualizations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43600" y="2569464"/>
            <a:ext cx="228600" cy="164592"/>
          </a:xfrm>
          <a:prstGeom prst="downArrow">
            <a:avLst/>
          </a:prstGeom>
          <a:solidFill>
            <a:srgbClr val="F15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698480" cy="8686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9F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/>
            <a:r>
              <a:rPr sz="1100" b="1">
                <a:solidFill>
                  <a:srgbClr val="9F263D"/>
                </a:solidFill>
                <a:latin typeface="Poppins"/>
              </a:rPr>
              <a:t>Layer 2: API Gateway &amp; REST Interface (FastAPI on Port 8000)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03030"/>
                </a:solidFill>
                <a:latin typeface="Segoe UI"/>
              </a:rPr>
              <a:t>Endpoints: /api/predict (POST) • /api/models/comparison (GET) • /api/analytics/summary • /api/labs/1..9 • CORS &amp; Pydantic Validation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43600" y="3621024"/>
            <a:ext cx="228600" cy="164592"/>
          </a:xfrm>
          <a:prstGeom prst="downArrow">
            <a:avLst/>
          </a:prstGeom>
          <a:solidFill>
            <a:srgbClr val="F15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10698480" cy="8686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D8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/>
            <a:r>
              <a:rPr sz="1100" b="1">
                <a:solidFill>
                  <a:srgbClr val="9F263D"/>
                </a:solidFill>
                <a:latin typeface="Poppins"/>
              </a:rPr>
              <a:t>Layer 3: Analytics &amp; Machine Learning Service Layer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03030"/>
                </a:solidFill>
                <a:latin typeface="Segoe UI"/>
              </a:rPr>
              <a:t>Business Services: MLService (Inference &amp; Evaluation) • DonorAnalyticsService • Lab7Service (K-Means) • Lab8Service (Hierarchical) • WarehouseService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43600" y="4672584"/>
            <a:ext cx="228600" cy="164592"/>
          </a:xfrm>
          <a:prstGeom prst="downArrow">
            <a:avLst/>
          </a:prstGeom>
          <a:solidFill>
            <a:srgbClr val="F15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4846319"/>
            <a:ext cx="10698480" cy="8686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8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/>
            <a:r>
              <a:rPr sz="1100" b="1">
                <a:solidFill>
                  <a:srgbClr val="9F263D"/>
                </a:solidFill>
                <a:latin typeface="Poppins"/>
              </a:rPr>
              <a:t>Layer 4: Modeling Artifacts &amp; Data Foundation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03030"/>
                </a:solidFill>
                <a:latin typeface="Segoe UI"/>
              </a:rPr>
              <a:t>Persistent Storage: best_model.joblib (Logistic Regression) • scaler.joblib • model_comparison.json • UCI Raw transfusion.data (748 rows)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897880"/>
            <a:ext cx="10698480" cy="594360"/>
          </a:xfrm>
          <a:prstGeom prst="roundRect">
            <a:avLst/>
          </a:prstGeom>
          <a:solidFill>
            <a:srgbClr val="D8E9D9"/>
          </a:solidFill>
          <a:ln w="1270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900" b="1">
                <a:solidFill>
                  <a:srgbClr val="303030"/>
                </a:solidFill>
                <a:latin typeface="Poppins"/>
              </a:rPr>
              <a:t>KEY ARCHITECTURAL HIGHLIGHT: Decoupled service boundaries ensure that prediction, multidimensional OLAP modeling, and unsupervised clustering operate independently without single points of failure.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47472"/>
          </a:xfrm>
          <a:prstGeom prst="roundRect">
            <a:avLst/>
          </a:prstGeom>
          <a:solidFill>
            <a:srgbClr val="F8D9D8"/>
          </a:solidFill>
          <a:ln w="1270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9F263D"/>
                </a:solidFill>
                <a:latin typeface="Poppins"/>
              </a:rPr>
              <a:t>[  WORKING IMPLEMENTATION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300" b="1">
                <a:solidFill>
                  <a:srgbClr val="9F263D"/>
                </a:solidFill>
                <a:latin typeface="Poppins"/>
              </a:rPr>
              <a:t>Live Application Showcase &amp; Interface Features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1150">
                <a:solidFill>
                  <a:srgbClr val="303030"/>
                </a:solidFill>
                <a:latin typeface="Segoe UI"/>
              </a:rPr>
              <a:t>Genuine screenshots captured from the running React 19 + FastAPI decision support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ashboard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5120640" cy="3566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440680"/>
            <a:ext cx="521208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900" b="1">
                <a:solidFill>
                  <a:srgbClr val="F15B5A"/>
                </a:solidFill>
                <a:latin typeface="Poppins"/>
              </a:rPr>
              <a:t>EXECUTIVE KPI &amp; ANALYTICS DASHBOARD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303030"/>
                </a:solidFill>
                <a:latin typeface="Segoe UI"/>
              </a:rPr>
              <a:t>Displays live cohort metrics (748 donors, 23.8% return rate), class balance breakdown, empirical skewness charts, and real-time backend API connection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rediction_scrol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37360"/>
            <a:ext cx="5120640" cy="35661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5440680"/>
            <a:ext cx="521208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900" b="1">
                <a:solidFill>
                  <a:srgbClr val="9F263D"/>
                </a:solidFill>
                <a:latin typeface="Poppins"/>
              </a:rPr>
              <a:t>LIVE DONOR PREDICTOR &amp; CRM GUIDANCE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303030"/>
                </a:solidFill>
                <a:latin typeface="Segoe UI"/>
              </a:rPr>
              <a:t>Allows coordinators to input RFMT features via intuitive sliders or archetypes, generating instant calibrated probability scores, confidence tiers, and outreach advice.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47472"/>
          </a:xfrm>
          <a:prstGeom prst="roundRect">
            <a:avLst/>
          </a:prstGeom>
          <a:solidFill>
            <a:srgbClr val="F8D9D8"/>
          </a:solidFill>
          <a:ln w="1270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9F263D"/>
                </a:solidFill>
                <a:latin typeface="Poppins"/>
              </a:rPr>
              <a:t>[  EMPIRICAL VALIDATION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300" b="1">
                <a:solidFill>
                  <a:srgbClr val="9F263D"/>
                </a:solidFill>
                <a:latin typeface="Poppins"/>
              </a:rPr>
              <a:t>Experimental Results &amp; Classifier Benchmark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1150">
                <a:solidFill>
                  <a:srgbClr val="303030"/>
                </a:solidFill>
                <a:latin typeface="Segoe UI"/>
              </a:rPr>
              <a:t>Evaluated on a stratified 20% holdout test set (N_test=150: 36 positive return donors, 114 negative non-donors).</a:t>
            </a:r>
          </a:p>
        </p:txBody>
      </p:sp>
      <p:pic>
        <p:nvPicPr>
          <p:cNvPr id="5" name="Picture 4" descr="chart_model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303520" cy="2834640"/>
          </a:xfrm>
          <a:prstGeom prst="rect">
            <a:avLst/>
          </a:prstGeom>
        </p:spPr>
      </p:pic>
      <p:pic>
        <p:nvPicPr>
          <p:cNvPr id="6" name="Picture 5" descr="chart_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91640"/>
            <a:ext cx="5120640" cy="283464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4663440"/>
          <a:ext cx="62179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Poppins"/>
                        </a:rPr>
                        <a:t>Algorithm</a:t>
                      </a:r>
                    </a:p>
                  </a:txBody>
                  <a:tcPr marL="54864" marR="54864" marT="36576" marB="36576">
                    <a:solidFill>
                      <a:srgbClr val="9F2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Poppins"/>
                        </a:rPr>
                        <a:t>Accuracy</a:t>
                      </a:r>
                    </a:p>
                  </a:txBody>
                  <a:tcPr marL="54864" marR="54864" marT="36576" marB="36576">
                    <a:solidFill>
                      <a:srgbClr val="9F2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Poppins"/>
                        </a:rPr>
                        <a:t>Recall</a:t>
                      </a:r>
                    </a:p>
                  </a:txBody>
                  <a:tcPr marL="54864" marR="54864" marT="36576" marB="36576">
                    <a:solidFill>
                      <a:srgbClr val="9F2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Poppins"/>
                        </a:rPr>
                        <a:t>Precision</a:t>
                      </a:r>
                    </a:p>
                  </a:txBody>
                  <a:tcPr marL="54864" marR="54864" marT="36576" marB="36576">
                    <a:solidFill>
                      <a:srgbClr val="9F2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Poppins"/>
                        </a:rPr>
                        <a:t>F1-Score</a:t>
                      </a:r>
                    </a:p>
                  </a:txBody>
                  <a:tcPr marL="54864" marR="54864" marT="36576" marB="36576">
                    <a:solidFill>
                      <a:srgbClr val="9F2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Poppins"/>
                        </a:rPr>
                        <a:t>ROC-AUC</a:t>
                      </a:r>
                    </a:p>
                  </a:txBody>
                  <a:tcPr marL="54864" marR="54864" marT="36576" marB="36576">
                    <a:solidFill>
                      <a:srgbClr val="9F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9F263D"/>
                          </a:solidFill>
                          <a:latin typeface="Poppins"/>
                        </a:rPr>
                        <a:t>Logistic Regression ★</a:t>
                      </a:r>
                    </a:p>
                  </a:txBody>
                  <a:tcPr marL="54864" marR="54864" marT="36576" marB="36576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9F263D"/>
                          </a:solidFill>
                          <a:latin typeface="Segoe UI"/>
                        </a:rPr>
                        <a:t>72.0%</a:t>
                      </a:r>
                    </a:p>
                  </a:txBody>
                  <a:tcPr marL="54864" marR="54864" marT="36576" marB="36576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9F263D"/>
                          </a:solidFill>
                          <a:latin typeface="Segoe UI"/>
                        </a:rPr>
                        <a:t>83.3%</a:t>
                      </a:r>
                    </a:p>
                  </a:txBody>
                  <a:tcPr marL="54864" marR="54864" marT="36576" marB="36576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9F263D"/>
                          </a:solidFill>
                          <a:latin typeface="Segoe UI"/>
                        </a:rPr>
                        <a:t>45.5%</a:t>
                      </a:r>
                    </a:p>
                  </a:txBody>
                  <a:tcPr marL="54864" marR="54864" marT="36576" marB="36576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9F263D"/>
                          </a:solidFill>
                          <a:latin typeface="Segoe UI"/>
                        </a:rPr>
                        <a:t>0.5882</a:t>
                      </a:r>
                    </a:p>
                  </a:txBody>
                  <a:tcPr marL="54864" marR="54864" marT="36576" marB="36576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9F263D"/>
                          </a:solidFill>
                          <a:latin typeface="Segoe UI"/>
                        </a:rPr>
                        <a:t>0.7848</a:t>
                      </a:r>
                    </a:p>
                  </a:txBody>
                  <a:tcPr marL="54864" marR="54864" marT="36576" marB="36576">
                    <a:solidFill>
                      <a:srgbClr val="FF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303030"/>
                          </a:solidFill>
                          <a:latin typeface="Poppins"/>
                        </a:rPr>
                        <a:t>Random Forest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303030"/>
                          </a:solidFill>
                          <a:latin typeface="Segoe UI"/>
                        </a:rPr>
                        <a:t>73.3%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303030"/>
                          </a:solidFill>
                          <a:latin typeface="Segoe UI"/>
                        </a:rPr>
                        <a:t>75.0%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303030"/>
                          </a:solidFill>
                          <a:latin typeface="Segoe UI"/>
                        </a:rPr>
                        <a:t>46.6%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303030"/>
                          </a:solidFill>
                          <a:latin typeface="Segoe UI"/>
                        </a:rPr>
                        <a:t>0.5745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303030"/>
                          </a:solidFill>
                          <a:latin typeface="Segoe UI"/>
                        </a:rPr>
                        <a:t>0.7719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303030"/>
                          </a:solidFill>
                          <a:latin typeface="Poppins"/>
                        </a:rPr>
                        <a:t>Support Vector Machine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303030"/>
                          </a:solidFill>
                          <a:latin typeface="Segoe UI"/>
                        </a:rPr>
                        <a:t>70.7%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303030"/>
                          </a:solidFill>
                          <a:latin typeface="Segoe UI"/>
                        </a:rPr>
                        <a:t>77.8%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303030"/>
                          </a:solidFill>
                          <a:latin typeface="Segoe UI"/>
                        </a:rPr>
                        <a:t>43.8%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303030"/>
                          </a:solidFill>
                          <a:latin typeface="Segoe UI"/>
                        </a:rPr>
                        <a:t>0.5600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303030"/>
                          </a:solidFill>
                          <a:latin typeface="Segoe UI"/>
                        </a:rPr>
                        <a:t>0.7941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303030"/>
                          </a:solidFill>
                          <a:latin typeface="Poppins"/>
                        </a:rPr>
                        <a:t>Decision Tree (CART)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303030"/>
                          </a:solidFill>
                          <a:latin typeface="Segoe UI"/>
                        </a:rPr>
                        <a:t>66.7%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303030"/>
                          </a:solidFill>
                          <a:latin typeface="Segoe UI"/>
                        </a:rPr>
                        <a:t>72.2%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303030"/>
                          </a:solidFill>
                          <a:latin typeface="Segoe UI"/>
                        </a:rPr>
                        <a:t>39.4%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303030"/>
                          </a:solidFill>
                          <a:latin typeface="Segoe UI"/>
                        </a:rPr>
                        <a:t>0.5098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303030"/>
                          </a:solidFill>
                          <a:latin typeface="Segoe UI"/>
                        </a:rPr>
                        <a:t>0.7427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132320" y="4663440"/>
            <a:ext cx="4297680" cy="1737360"/>
          </a:xfrm>
          <a:prstGeom prst="roundRect">
            <a:avLst/>
          </a:prstGeom>
          <a:solidFill>
            <a:srgbClr val="D8E9D9"/>
          </a:solidFill>
          <a:ln w="19050">
            <a:solidFill>
              <a:srgbClr val="9F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146304" rtlCol="0" anchor="ctr"/>
          <a:lstStyle/>
          <a:p>
            <a:pPr algn="ctr"/>
            <a:r>
              <a:rPr sz="950" b="1">
                <a:solidFill>
                  <a:srgbClr val="9F263D"/>
                </a:solidFill>
                <a:latin typeface="Poppins"/>
              </a:rPr>
              <a:t>THE RECALL &amp; F1 TRADEOFF INSIGHT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850">
                <a:solidFill>
                  <a:srgbClr val="303030"/>
                </a:solidFill>
                <a:latin typeface="Segoe UI"/>
              </a:rPr>
              <a:t>Under a 3.2:1 negative majority, a naive model predicting 0 for all patients achieves 76.2% accuracy while failing to recruit a single returning donor.
Balanced class weighting successfully elevates Logistic Regression to 83.3% Recall (capturing 30 out of 36 actual returning donors) while achieving the optimal F1-score of 0.5882.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47472"/>
          </a:xfrm>
          <a:prstGeom prst="roundRect">
            <a:avLst/>
          </a:prstGeom>
          <a:solidFill>
            <a:srgbClr val="F8D9D8"/>
          </a:solidFill>
          <a:ln w="1270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9F263D"/>
                </a:solidFill>
                <a:latin typeface="Poppins"/>
              </a:rPr>
              <a:t>[  CRITICAL REFLECTION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300" b="1">
                <a:solidFill>
                  <a:srgbClr val="9F263D"/>
                </a:solidFill>
                <a:latin typeface="Poppins"/>
              </a:rPr>
              <a:t>Project Limitations &amp; Future Research Roadmap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1150">
                <a:solidFill>
                  <a:srgbClr val="303030"/>
                </a:solidFill>
                <a:latin typeface="Segoe UI"/>
              </a:rPr>
              <a:t>Transparent scientific boundary assessment paired with practical expansion directions.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19456" rIns="219456" bIns="219456" rtlCol="0" anchor="ctr"/>
          <a:lstStyle/>
          <a:p>
            <a:pPr algn="ctr"/>
            <a:r>
              <a:rPr sz="1100" b="1">
                <a:solidFill>
                  <a:srgbClr val="F15B5A"/>
                </a:solidFill>
                <a:latin typeface="Poppins"/>
              </a:rPr>
              <a:t>GENUINE PROJECT LIMITATIONS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303030"/>
                </a:solidFill>
                <a:latin typeface="Poppins"/>
              </a:rPr>
              <a:t>Boundary Conditions of the Study</a:t>
            </a:r>
          </a:p>
          <a:p>
            <a:pPr>
              <a:lnSpc>
                <a:spcPct val="110000"/>
              </a:lnSpc>
              <a:spcBef>
                <a:spcPts val="700"/>
              </a:spcBef>
            </a:pPr>
            <a:r>
              <a:rPr sz="900" b="1">
                <a:solidFill>
                  <a:srgbClr val="F15B5A"/>
                </a:solidFill>
                <a:latin typeface="Poppins"/>
              </a:rPr>
              <a:t>•  Single-Center Historical Scope: </a:t>
            </a:r>
            <a:r>
              <a:rPr sz="850">
                <a:solidFill>
                  <a:srgbClr val="303030"/>
                </a:solidFill>
                <a:latin typeface="Segoe UI"/>
              </a:rPr>
              <a:t>Data originated from the Hsin-Chu City, Taiwan blood center in March 2007; seasonal and demographic patterns may differ in other countries.</a:t>
            </a:r>
          </a:p>
          <a:p>
            <a:pPr>
              <a:lnSpc>
                <a:spcPct val="110000"/>
              </a:lnSpc>
              <a:spcBef>
                <a:spcPts val="700"/>
              </a:spcBef>
            </a:pPr>
            <a:r>
              <a:rPr sz="900" b="1">
                <a:solidFill>
                  <a:srgbClr val="F15B5A"/>
                </a:solidFill>
                <a:latin typeface="Poppins"/>
              </a:rPr>
              <a:t>•  Absence of Clinical &amp; Biometric Attributes: </a:t>
            </a:r>
            <a:r>
              <a:rPr sz="850">
                <a:solidFill>
                  <a:srgbClr val="303030"/>
                </a:solidFill>
                <a:latin typeface="Segoe UI"/>
              </a:rPr>
              <a:t>The dataset contains zero data regarding donor hemoglobin, blood group (ABO/Rh), blood pressure, age, weight, or deferral history.</a:t>
            </a:r>
          </a:p>
          <a:p>
            <a:pPr>
              <a:lnSpc>
                <a:spcPct val="110000"/>
              </a:lnSpc>
              <a:spcBef>
                <a:spcPts val="700"/>
              </a:spcBef>
            </a:pPr>
            <a:r>
              <a:rPr sz="900" b="1">
                <a:solidFill>
                  <a:srgbClr val="F15B5A"/>
                </a:solidFill>
                <a:latin typeface="Poppins"/>
              </a:rPr>
              <a:t>•  Exact Feature Redundancy: </a:t>
            </a:r>
            <a:r>
              <a:rPr sz="850">
                <a:solidFill>
                  <a:srgbClr val="303030"/>
                </a:solidFill>
                <a:latin typeface="Segoe UI"/>
              </a:rPr>
              <a:t>Because Monetary is strictly 250 x Frequency (r = 1.000), the dataset effectively contains only 3 independent degrees of freedom (R, F, T).</a:t>
            </a:r>
          </a:p>
          <a:p>
            <a:pPr>
              <a:lnSpc>
                <a:spcPct val="110000"/>
              </a:lnSpc>
              <a:spcBef>
                <a:spcPts val="700"/>
              </a:spcBef>
            </a:pPr>
            <a:r>
              <a:rPr sz="900" b="1">
                <a:solidFill>
                  <a:srgbClr val="F15B5A"/>
                </a:solidFill>
                <a:latin typeface="Poppins"/>
              </a:rPr>
              <a:t>•  Statistical Propensity, Not Medical Advice: </a:t>
            </a:r>
            <a:r>
              <a:rPr sz="850">
                <a:solidFill>
                  <a:srgbClr val="303030"/>
                </a:solidFill>
                <a:latin typeface="Segoe UI"/>
              </a:rPr>
              <a:t>Predictions represent historical empirical likelihoods for outreach optimization, not individualized clinical fitness to donate.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19456" rIns="219456" bIns="219456" rtlCol="0" anchor="ctr"/>
          <a:lstStyle/>
          <a:p>
            <a:pPr algn="ctr"/>
            <a:r>
              <a:rPr sz="1100" b="1">
                <a:solidFill>
                  <a:srgbClr val="9F263D"/>
                </a:solidFill>
                <a:latin typeface="Poppins"/>
              </a:rPr>
              <a:t>FUTURE RESEARCH ROADMAP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303030"/>
                </a:solidFill>
                <a:latin typeface="Poppins"/>
              </a:rPr>
              <a:t>Future Technical Enhancements</a:t>
            </a:r>
          </a:p>
          <a:p>
            <a:pPr>
              <a:lnSpc>
                <a:spcPct val="110000"/>
              </a:lnSpc>
              <a:spcBef>
                <a:spcPts val="700"/>
              </a:spcBef>
            </a:pPr>
            <a:r>
              <a:rPr sz="900" b="1">
                <a:solidFill>
                  <a:srgbClr val="9F263D"/>
                </a:solidFill>
                <a:latin typeface="Poppins"/>
              </a:rPr>
              <a:t>•  Multi-Hospital Prospective Data Ingestion: </a:t>
            </a:r>
            <a:r>
              <a:rPr sz="850">
                <a:solidFill>
                  <a:srgbClr val="303030"/>
                </a:solidFill>
                <a:latin typeface="Segoe UI"/>
              </a:rPr>
              <a:t>Connect the pipeline to hospital electronic blood bank management systems via secure HL7/FHIR healthcare data bridges.</a:t>
            </a:r>
          </a:p>
          <a:p>
            <a:pPr>
              <a:lnSpc>
                <a:spcPct val="110000"/>
              </a:lnSpc>
              <a:spcBef>
                <a:spcPts val="700"/>
              </a:spcBef>
            </a:pPr>
            <a:r>
              <a:rPr sz="900" b="1">
                <a:solidFill>
                  <a:srgbClr val="9F263D"/>
                </a:solidFill>
                <a:latin typeface="Poppins"/>
              </a:rPr>
              <a:t>•  Automated Multichannel Outreach Dispatch: </a:t>
            </a:r>
            <a:r>
              <a:rPr sz="850">
                <a:solidFill>
                  <a:srgbClr val="303030"/>
                </a:solidFill>
                <a:latin typeface="Segoe UI"/>
              </a:rPr>
              <a:t>Integrate automated SMS, WhatsApp, and email APIs triggered dynamically when a donor enters prime retention windows.</a:t>
            </a:r>
          </a:p>
          <a:p>
            <a:pPr>
              <a:lnSpc>
                <a:spcPct val="110000"/>
              </a:lnSpc>
              <a:spcBef>
                <a:spcPts val="700"/>
              </a:spcBef>
            </a:pPr>
            <a:r>
              <a:rPr sz="900" b="1">
                <a:solidFill>
                  <a:srgbClr val="9F263D"/>
                </a:solidFill>
                <a:latin typeface="Poppins"/>
              </a:rPr>
              <a:t>•  Deep Temporal Sequence Modeling: </a:t>
            </a:r>
            <a:r>
              <a:rPr sz="850">
                <a:solidFill>
                  <a:srgbClr val="303030"/>
                </a:solidFill>
                <a:latin typeface="Segoe UI"/>
              </a:rPr>
              <a:t>Formulate longitudinal donor timelines using Recurrent Neural Networks (LSTM) or Transformers to predict multi-year return trajectories.</a:t>
            </a:r>
          </a:p>
          <a:p>
            <a:pPr>
              <a:lnSpc>
                <a:spcPct val="110000"/>
              </a:lnSpc>
              <a:spcBef>
                <a:spcPts val="700"/>
              </a:spcBef>
            </a:pPr>
            <a:r>
              <a:rPr sz="900" b="1">
                <a:solidFill>
                  <a:srgbClr val="9F263D"/>
                </a:solidFill>
                <a:latin typeface="Poppins"/>
              </a:rPr>
              <a:t>•  Privacy-Preserving Federated Learning: </a:t>
            </a:r>
            <a:r>
              <a:rPr sz="850">
                <a:solidFill>
                  <a:srgbClr val="303030"/>
                </a:solidFill>
                <a:latin typeface="Segoe UI"/>
              </a:rPr>
              <a:t>Train cross-institutional donor models across multiple regional centers without centralizing sensitive donor personal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47472"/>
          </a:xfrm>
          <a:prstGeom prst="roundRect">
            <a:avLst/>
          </a:prstGeom>
          <a:solidFill>
            <a:srgbClr val="F8D9D8"/>
          </a:solidFill>
          <a:ln w="1270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9F263D"/>
                </a:solidFill>
                <a:latin typeface="Poppins"/>
              </a:rPr>
              <a:t>[  PROJECT WRAP-UP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300" b="1">
                <a:solidFill>
                  <a:srgbClr val="9F263D"/>
                </a:solidFill>
                <a:latin typeface="Poppins"/>
              </a:rPr>
              <a:t>Summary of Contributions &amp; Academic Citations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1150">
                <a:solidFill>
                  <a:srgbClr val="303030"/>
                </a:solidFill>
                <a:latin typeface="Segoe UI"/>
              </a:rPr>
              <a:t>Final conclusions, scholarly references, and project presentation conclusion.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D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/>
            <a:r>
              <a:rPr sz="1050" b="1">
                <a:solidFill>
                  <a:srgbClr val="9F263D"/>
                </a:solidFill>
                <a:latin typeface="Poppins"/>
              </a:rPr>
              <a:t>SUMMARY OF ACHIEVEMENTS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919" b="1">
                <a:solidFill>
                  <a:srgbClr val="F15B5A"/>
                </a:solidFill>
                <a:latin typeface="Poppins"/>
              </a:rPr>
              <a:t>•  Mathematical Data Rigor: </a:t>
            </a:r>
            <a:r>
              <a:rPr sz="880">
                <a:solidFill>
                  <a:srgbClr val="303030"/>
                </a:solidFill>
                <a:latin typeface="Segoe UI"/>
              </a:rPr>
              <a:t>Successfully modeled the 748-donor cohort, validated exact invariants (M = 250 x F), and handled Pareto right-skewed distributions.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919" b="1">
                <a:solidFill>
                  <a:srgbClr val="F15B5A"/>
                </a:solidFill>
                <a:latin typeface="Poppins"/>
              </a:rPr>
              <a:t>•  High Recall Classification: </a:t>
            </a:r>
            <a:r>
              <a:rPr sz="880">
                <a:solidFill>
                  <a:srgbClr val="303030"/>
                </a:solidFill>
                <a:latin typeface="Segoe UI"/>
              </a:rPr>
              <a:t>Balanced class weighting enabled Logistic Regression to achieve 83.3% test recall and 0.5882 F1-score, overcoming class imbalance.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919" b="1">
                <a:solidFill>
                  <a:srgbClr val="F15B5A"/>
                </a:solidFill>
                <a:latin typeface="Poppins"/>
              </a:rPr>
              <a:t>•  Unsupervised Personas: </a:t>
            </a:r>
            <a:r>
              <a:rPr sz="880">
                <a:solidFill>
                  <a:srgbClr val="303030"/>
                </a:solidFill>
                <a:latin typeface="Segoe UI"/>
              </a:rPr>
              <a:t>Identified 4 actionable donor segments via K-Means and Hierarchical Clustering with Silhouette validation.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919" b="1">
                <a:solidFill>
                  <a:srgbClr val="F15B5A"/>
                </a:solidFill>
                <a:latin typeface="Poppins"/>
              </a:rPr>
              <a:t>•  Production Decision Tool: </a:t>
            </a:r>
            <a:r>
              <a:rPr sz="880">
                <a:solidFill>
                  <a:srgbClr val="303030"/>
                </a:solidFill>
                <a:latin typeface="Segoe UI"/>
              </a:rPr>
              <a:t>Delivered an interactive, production-grade web suite with live prediction, DWDM OLAP reports, and resilient pure-NumPy fallbacks.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/>
            <a:r>
              <a:rPr sz="950" b="1">
                <a:solidFill>
                  <a:srgbClr val="9F263D"/>
                </a:solidFill>
                <a:latin typeface="Poppins"/>
              </a:rPr>
              <a:t>SCHOLARLY REFERENCES &amp; DATA SOURCES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780">
                <a:solidFill>
                  <a:srgbClr val="303030"/>
                </a:solidFill>
                <a:latin typeface="Segoe UI"/>
              </a:rPr>
              <a:t>[1] Yeh, I-C., Yang, K-J., &amp; Ting, T-M. (2008). Knowledge discovery on RFM model using Bernoulli sequence. Expert Systems with Applications, 36(4), 7715–7723.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780">
                <a:solidFill>
                  <a:srgbClr val="303030"/>
                </a:solidFill>
                <a:latin typeface="Segoe UI"/>
              </a:rPr>
              <a:t>[2] UCI Machine Learning Repository: Blood Transfusion Service Center Dataset (ID: 176). Hsin-Chu City, Taiwan.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780">
                <a:solidFill>
                  <a:srgbClr val="303030"/>
                </a:solidFill>
                <a:latin typeface="Segoe UI"/>
              </a:rPr>
              <a:t>[3] Pedregosa, F., et al. (2011). Scikit-learn: Machine Learning in Python. Journal of Machine Learning Research, 12, 2825–2830.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780">
                <a:solidFill>
                  <a:srgbClr val="303030"/>
                </a:solidFill>
                <a:latin typeface="Segoe UI"/>
              </a:rPr>
              <a:t>[4] Han, J., Kamber, M., &amp; Pei, J. (2011). Data Mining: Concepts and Techniques (3rd ed.). Morgan Kaufmann.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297680"/>
            <a:ext cx="5212080" cy="1874519"/>
          </a:xfrm>
          <a:prstGeom prst="roundRect">
            <a:avLst/>
          </a:prstGeom>
          <a:solidFill>
            <a:srgbClr val="F8D9D8"/>
          </a:solidFill>
          <a:ln w="25400">
            <a:solidFill>
              <a:srgbClr val="F15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94360" rIns="164592" bIns="164592" rtlCol="0" anchor="ctr"/>
          <a:lstStyle/>
          <a:p>
            <a:pPr algn="ctr"/>
            <a:r>
              <a:rPr sz="2000" b="1">
                <a:solidFill>
                  <a:srgbClr val="9F263D"/>
                </a:solidFill>
                <a:latin typeface="Poppins"/>
              </a:rPr>
              <a:t>THANK YOU!</a:t>
            </a:r>
          </a:p>
          <a:p>
            <a:pPr algn="ctr">
              <a:spcBef>
                <a:spcPts val="300"/>
              </a:spcBef>
            </a:pPr>
            <a:r>
              <a:rPr sz="1150" b="1">
                <a:solidFill>
                  <a:srgbClr val="F15B5A"/>
                </a:solidFill>
                <a:latin typeface="Poppins"/>
              </a:rPr>
              <a:t>Questions &amp; Technical Discussion Welcome</a:t>
            </a:r>
          </a:p>
          <a:p>
            <a:pPr algn="ctr">
              <a:spcBef>
                <a:spcPts val="400"/>
              </a:spcBef>
            </a:pPr>
            <a:r>
              <a:rPr sz="850">
                <a:solidFill>
                  <a:srgbClr val="303030"/>
                </a:solidFill>
                <a:latin typeface="Segoe UI"/>
              </a:rPr>
              <a:t>Live FastAPI API Documentation: http://localhost:8000/docs
React Decision Support Application: http://localhost:5173</a:t>
            </a:r>
          </a:p>
        </p:txBody>
      </p:sp>
      <p:sp>
        <p:nvSpPr>
          <p:cNvPr id="8" name="Heart 7"/>
          <p:cNvSpPr/>
          <p:nvPr/>
        </p:nvSpPr>
        <p:spPr>
          <a:xfrm>
            <a:off x="8549640" y="4434840"/>
            <a:ext cx="548640" cy="548640"/>
          </a:xfrm>
          <a:prstGeom prst="heart">
            <a:avLst/>
          </a:prstGeom>
          <a:solidFill>
            <a:srgbClr val="F15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2937</Words>
  <Application>Microsoft Office PowerPoint</Application>
  <PresentationFormat>Widescreen</PresentationFormat>
  <Paragraphs>230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Poppins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Anushka Gadhave</cp:lastModifiedBy>
  <cp:revision>2</cp:revision>
  <dcterms:created xsi:type="dcterms:W3CDTF">2013-01-27T09:14:16Z</dcterms:created>
  <dcterms:modified xsi:type="dcterms:W3CDTF">2026-10-11T18:50:59Z</dcterms:modified>
  <cp:category/>
</cp:coreProperties>
</file>